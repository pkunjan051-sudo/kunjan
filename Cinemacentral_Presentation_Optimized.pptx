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0728655" cy="54864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097280"/>
            <a:ext cx="2926080" cy="50292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🎬 FLUTTER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CINEMACENTRAL</a:t>
            </a:r>
          </a:p>
          <a:p>
            <a:pPr>
              <a:defRPr sz="2400" b="1">
                <a:solidFill>
                  <a:srgbClr val="FF2E4C"/>
                </a:solidFill>
              </a:defRPr>
            </a:pPr>
            <a:r>
              <a:t>Next-Generation Movie Discovery &amp; Entertainment Platform</a:t>
            </a:r>
          </a:p>
          <a:p>
            <a:pPr>
              <a:defRPr sz="1600">
                <a:solidFill>
                  <a:srgbClr val="B9BCD0"/>
                </a:solidFill>
              </a:defRPr>
            </a:pPr>
            <a:r>
              <a:t>A high-performance mobile application engineered with Flutter, Dart, REST APIs, and local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480560"/>
            <a:ext cx="9814255" cy="1371600"/>
          </a:xfrm>
          <a:prstGeom prst="roundRect">
            <a:avLst/>
          </a:prstGeom>
          <a:solidFill>
            <a:srgbClr val="0D0E15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6177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PROJECT METADATA &amp; TECHNICAL STACK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Technology: Flutter 3.x  |  Dart SDK  |  TMDB REST API v3  |  HTTP Client  |  SharedPreferences</a:t>
            </a:r>
            <a:br/>
            <a:r>
              <a:t>• Topic: Mobile Software Engineering &amp; UI/UX Design  |  College Project Viva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Introduction: What is Cinemacentral?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7091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50914"/>
                </a:solidFill>
              </a:defRPr>
            </a:pPr>
            <a:r>
              <a:t>Application Concept &amp; Vision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Cinemacentral is a modern cross-platform mobile discovery application built with Flutter and Dart.</a:t>
            </a:r>
            <a:br/>
            <a:br/>
            <a:r>
              <a:t>It serves as a single unified hub for exploring real-time trending movies, top-rated films, upcoming releases, short video trailers, actor filmographies, and persistent watchlists.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42255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🎯 Centralized Discovery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Consolidates global cinema data into a single modern interface without switching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42255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⚡ Immersive UX &amp; Reels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Features vertical video trailer reels and poster carousels engineered for fluid touch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09160"/>
            <a:ext cx="5242255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📌 Local Watchlist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Enables instant local persistence via SharedPreferences to save movies for later viewing.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Problem Statement: Challenges in Existing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56432" cy="46634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CHALLENGE 01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Fragmented Data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Users must navigate between separate websites to find storylines, cast lists, ratings, and video trailers.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554480"/>
            <a:ext cx="3456432" cy="46634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3736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CHALLENGE 02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Outdated UI/UX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Traditional movie tools feature cluttered desktop layouts, uninspired fonts, and poor mobile responsiveness.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554480"/>
            <a:ext cx="3456432" cy="46634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73736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CHALLENGE 03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Sluggish Mobile Performance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Heavy web views and unoptimized image loading cause lag, buffer delays, and high battery consumption.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Project Objectives &amp; Key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C107"/>
                </a:solidFill>
              </a:defRPr>
            </a:pPr>
            <a:r>
              <a:t>🎨 Modern Netflix-Inspired Theme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Design a sleek, obsidian dark cinematic interface with custom typography and poster-first grids.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C107"/>
                </a:solidFill>
              </a:defRPr>
            </a:pPr>
            <a:r>
              <a:t>🔌 Live REST API Integration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Connect to TMDB REST API v3 using HTTP client to dynamically retrieve global movie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60519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C107"/>
                </a:solidFill>
              </a:defRPr>
            </a:pPr>
            <a:r>
              <a:t>📲 Cross-Platform Responsiveness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Build responsive mobile layouts compatible across diverse Android and iOS display form factors.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5257800" cy="21945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19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C107"/>
                </a:solidFill>
              </a:defRPr>
            </a:pPr>
            <a:r>
              <a:t>🚀 Smooth Navigation &amp; State</a:t>
            </a:r>
          </a:p>
          <a:p>
            <a:br/>
            <a:pPr>
              <a:defRPr sz="1500">
                <a:solidFill>
                  <a:srgbClr val="B9BCD0"/>
                </a:solidFill>
              </a:defRPr>
            </a:pPr>
            <a:r>
              <a:t>Implement Material 3 navigation bars, tab switching, and reactive watchlist state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Technology Stack &amp; Libraries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56432" cy="22402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90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FRAMEWORK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Flutter 3.x</a:t>
            </a:r>
          </a:p>
          <a:p>
            <a:br/>
            <a:pPr>
              <a:defRPr sz="1400">
                <a:solidFill>
                  <a:srgbClr val="B9BCD0"/>
                </a:solidFill>
              </a:defRPr>
            </a:pPr>
            <a:r>
              <a:t>Google's UI toolkit for compiling fast, natively compiled cross-platform mobile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554480"/>
            <a:ext cx="3456432" cy="22402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91640"/>
            <a:ext cx="3090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LANGUAGE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Dart SDK</a:t>
            </a:r>
          </a:p>
          <a:p>
            <a:br/>
            <a:pPr>
              <a:defRPr sz="1400">
                <a:solidFill>
                  <a:srgbClr val="B9BCD0"/>
                </a:solidFill>
              </a:defRPr>
            </a:pPr>
            <a:r>
              <a:t>Strongly typed language optimized for reactive client UI and asynchronous logic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554480"/>
            <a:ext cx="3456432" cy="22402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91640"/>
            <a:ext cx="3090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DATA BACKEND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TMDB REST API</a:t>
            </a:r>
          </a:p>
          <a:p>
            <a:br/>
            <a:pPr>
              <a:defRPr sz="1400">
                <a:solidFill>
                  <a:srgbClr val="B9BCD0"/>
                </a:solidFill>
              </a:defRPr>
            </a:pPr>
            <a:r>
              <a:t>The Movie Database API v3 for fetching trending movies, search, genres, and cast bios.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3456432" cy="22402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3090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NETWORKING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HTTP Package</a:t>
            </a:r>
          </a:p>
          <a:p>
            <a:br/>
            <a:pPr>
              <a:defRPr sz="1400">
                <a:solidFill>
                  <a:srgbClr val="B9BCD0"/>
                </a:solidFill>
              </a:defRPr>
            </a:pPr>
            <a:r>
              <a:t>Handles async REST API requests, URI parameters, headers, and JSON response parsing.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977639"/>
            <a:ext cx="3456432" cy="22402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4114799"/>
            <a:ext cx="3090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LOCAL STORAGE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SharedPreferences</a:t>
            </a:r>
          </a:p>
          <a:p>
            <a:br/>
            <a:pPr>
              <a:defRPr sz="1400">
                <a:solidFill>
                  <a:srgbClr val="B9BCD0"/>
                </a:solidFill>
              </a:defRPr>
            </a:pPr>
            <a:r>
              <a:t>Key-value persistent local storage used to save watchlists offline across app restarts.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977639"/>
            <a:ext cx="3456432" cy="22402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4114799"/>
            <a:ext cx="3090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TYPOGRAPHY &amp; VIDEO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Google Fonts &amp; Media</a:t>
            </a:r>
          </a:p>
          <a:p>
            <a:br/>
            <a:pPr>
              <a:defRPr sz="1400">
                <a:solidFill>
                  <a:srgbClr val="B9BCD0"/>
                </a:solidFill>
              </a:defRPr>
            </a:pPr>
            <a:r>
              <a:t>Montserrat &amp; Inter typography + VideoPlayer for vertical trailer reels.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System &amp; 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01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Touch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Tap card, search, or tab 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1219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259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987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Flutter UI Views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HomeScreen, Search,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0958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0998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0726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03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ApiService Layer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HTTP REST client &amp; API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697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737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465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04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TMDB / Storage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Remote API &amp; SharedPreferences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0436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0476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0204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0914"/>
                </a:solidFill>
              </a:defRPr>
            </a:pPr>
            <a:r>
              <a:t>STEP 05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State Update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ValueNotifier UI rebuild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C107"/>
                </a:solidFill>
              </a:defRPr>
            </a:pPr>
            <a:r>
              <a:t>3-Tier Clean Architecture Principles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• Presentation Layer: Modular Material 3 views (HomeScreen, SearchScreen, ReelsScreen, MovieDetailsScreen).</a:t>
            </a:r>
            <a:br/>
            <a:r>
              <a:t>• Service Layer: ApiService decouples network requests from UI; FavoritesService manages persistent watchlist state.</a:t>
            </a:r>
            <a:br/>
            <a:r>
              <a:t>• Data Layer: Type-safe Dart models (Movie, Actor) deserialize raw JSON with null-safety fallbacks.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Main Features &amp; Application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🚀 Animated Splash Screen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Sleek branding startup screen with service pre-initialization.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🏠 Home Discovery Hub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Hero backdrop banner, trending rows &amp; genre filter chips.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🎬 Short Trailers Feed (Reels)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Full-screen vertical swipe video player with inline trailer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089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461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🔍 Smart Search &amp; Filter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Query debouncing to reduce API load + real-time genre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📖 Detailed Movie Pages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Storyline summary, ratings, release info, cast carousels, &amp; trailer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7091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8463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⭐ Persistent Watchlist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Bookmark favorite movies saved locally using SharedPreferences.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UI/UX Design System &amp; Aesthetics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70916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50914"/>
                </a:solidFill>
              </a:defRPr>
            </a:pPr>
            <a:r>
              <a:t>Cinematic Visual Aesthetics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• Dark Obsidian Canvas (#0D0E15): Ambient background designed for poster contrast and low eye strain.</a:t>
            </a:r>
            <a:br/>
            <a:r>
              <a:t>• Crimson Accent (#E50914): Highlights call-to-action buttons, active navigation, and hero badges.</a:t>
            </a:r>
            <a:br/>
            <a:r>
              <a:t>• Gold Rating Badges (#FFC107): Visual rating indicators (e.g. ⭐ 8.5/10) for instant decision making.</a:t>
            </a:r>
            <a:br/>
            <a:r>
              <a:t>• Modern Typography: Montserrat bold display headers paired with clean Inter body copy.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42255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🖼️ Poster-Based Browsing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High-aspect-ratio poster cards with hover scale animations and rating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42255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✨ Glassmorphism &amp; Elevation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Semi-transparent dark surfaces with rounded borders and clean card margins.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09160"/>
            <a:ext cx="5242255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📱 Responsive Layouts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Auto-adjusting grid columns and scalable carousels optimized for mobile displays.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API Integration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01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Flutter App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User initiates view or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1219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259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987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HTTP Request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ApiService sends async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0958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0998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0726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03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TMDB API Server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Processes query &amp; returns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697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737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465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04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JSON Model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Movie.fromJson() 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0436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0476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0204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0914"/>
                </a:solidFill>
              </a:defRPr>
            </a:pPr>
            <a:r>
              <a:t>STEP 05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Flutter UI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Renders poster grid &amp;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50914"/>
                </a:solidFill>
              </a:defRPr>
            </a:pPr>
            <a:r>
              <a:t>Technical API Implementation &amp; Resilience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• REST Endpoints: Serves /trending/movie/week, /movie/popular, /movie/top_rated, and /search/movie.</a:t>
            </a:r>
            <a:br/>
            <a:r>
              <a:t>• CDN Image Hosting: Constructs dynamic image URLs (https://image.tmdb.org/t/p/w500) for fast poster loading.</a:t>
            </a:r>
            <a:br/>
            <a:r>
              <a:t>• Graceful Fallbacks: Integrates fallback image URLs (Unsplash CDN) if TMDB poster paths are missing.</a:t>
            </a:r>
            <a:br/>
            <a:r>
              <a:t>• Network Caching: Employs CachedNetworkImage to eliminate duplicate HTTP requests and conserve bandwidth.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Application User Journey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01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Splash Screen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Animated startup &amp; pre-loader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1219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259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987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Main Navigation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Material 3 bottom NavigationBar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0958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0998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0726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03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Discover Feed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Browse Home, Search, or Reels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697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737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465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STEP 04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Movie Details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Read overview &amp; view 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0436" y="2263140"/>
            <a:ext cx="320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0476" y="1508760"/>
            <a:ext cx="1889699" cy="21488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0204" y="1618488"/>
            <a:ext cx="1670243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0914"/>
                </a:solidFill>
              </a:defRPr>
            </a:pPr>
            <a:r>
              <a:t>STEP 05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Watchlist</a:t>
            </a:r>
          </a:p>
          <a:p>
            <a:pPr algn="ctr">
              <a:defRPr sz="1350">
                <a:solidFill>
                  <a:srgbClr val="B9BCD0"/>
                </a:solidFill>
              </a:defRPr>
            </a:pPr>
            <a:r>
              <a:t>Bookmark favorite locally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C107"/>
                </a:solidFill>
              </a:defRPr>
            </a:pPr>
            <a:r>
              <a:t>Seamless User Experience Flow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• Frictionless Browsing: Users land directly on the Home feed without complex login barriers.</a:t>
            </a:r>
            <a:br/>
            <a:r>
              <a:t>• State Preservation: IndexedStack preserves scroll position and search states across navigation tabs.</a:t>
            </a:r>
            <a:br/>
            <a:r>
              <a:t>• Instant Watchlist Updates: Adding a movie to Watchlist instantly updates the NavigationBar badge 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Future Scope &amp; Roadmaps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🔐 Cloud Authentication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Firebase Auth / Supabase integration for multi-device sync and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🤖 AI Recommendations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Personalized movie suggestions tailored to user watchlist affinity.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⏱️ Watch History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Track trailer viewing history and resume video clips seamlessly.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089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461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🔔 Push Notifications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Real-time alerts when new trailers drop or bookmarked movies enter theaters.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📥 Offline Caching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Hive local database caching for viewing movie details without internet.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709160"/>
            <a:ext cx="5257800" cy="146304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8463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📺 Video Streaming</a:t>
            </a:r>
          </a:p>
          <a:p>
            <a:pPr>
              <a:defRPr sz="1400">
                <a:solidFill>
                  <a:srgbClr val="B9BCD0"/>
                </a:solidFill>
              </a:defRPr>
            </a:pPr>
            <a:r>
              <a:t>HLS / DASH video protocol integration for full-length legal movie streaming.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0914"/>
                </a:solidFill>
                <a:latin typeface="Arial"/>
              </a:defRPr>
            </a:pPr>
            <a:r>
              <a:t>CINEMACENTRAL • FLUTTER ENTERTAINMENT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Conclusion &amp; Project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297180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800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Cinemacentral Project Achievement Summary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Cinemacentral demonstrates modern mobile software engineering by delivering a high-performance, visually captivating movie discovery app built with Flutter and REST APIs.</a:t>
            </a:r>
          </a:p>
          <a:p>
            <a:br/>
            <a:pPr>
              <a:defRPr sz="1400">
                <a:solidFill>
                  <a:srgbClr val="B9BCD0"/>
                </a:solidFill>
              </a:defRPr>
            </a:pPr>
            <a:r>
              <a:t>• Flutter Mastery: Clean reactive UI, smooth Material 3 navigation, custom themes, and video components.</a:t>
            </a:r>
            <a:br/>
            <a:r>
              <a:t>• REST API Integration: Asynchronous HTTP fetching, JSON parsing, error handling, and lazy image loading.</a:t>
            </a:r>
            <a:br/>
            <a:r>
              <a:t>• UI/UX Excellence: Modern Netflix-inspired dark aesthetic suitable for production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171822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C107"/>
                </a:solidFill>
              </a:defRPr>
            </a:pPr>
            <a:r>
              <a:t>THANK YOU!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Questions &amp; Answers  |  Cinemacentral Final Project Viva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